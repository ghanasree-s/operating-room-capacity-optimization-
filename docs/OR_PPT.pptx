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va Sans" panose="020B0604020202020204" charset="0"/>
      <p:regular r:id="rId14"/>
    </p:embeddedFont>
    <p:embeddedFont>
      <p:font typeface="Canva San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708" y="2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FFFF67-C06C-48C4-ADC2-803911CDD8E0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A2ED4E-0492-445A-9870-5071D8CCAE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912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A2ED4E-0492-445A-9870-5071D8CCAEE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489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376997"/>
            <a:ext cx="16954500" cy="7533006"/>
            <a:chOff x="0" y="0"/>
            <a:chExt cx="22606000" cy="10044007"/>
          </a:xfrm>
        </p:grpSpPr>
        <p:sp>
          <p:nvSpPr>
            <p:cNvPr id="3" name="TextBox 3"/>
            <p:cNvSpPr txBox="1"/>
            <p:nvPr/>
          </p:nvSpPr>
          <p:spPr>
            <a:xfrm>
              <a:off x="0" y="1432349"/>
              <a:ext cx="22606000" cy="365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200"/>
                </a:lnSpc>
                <a:spcBef>
                  <a:spcPct val="0"/>
                </a:spcBef>
              </a:pPr>
              <a:r>
                <a:rPr lang="en-US" sz="6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Operating Room Capacity Planning and Utilization Optimization Using Surgical Workflow Analytics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821258"/>
              <a:ext cx="22606000" cy="4222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BAVESH RAAM S - CB.SC.U4AIE23016</a:t>
              </a:r>
            </a:p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GHANASREE S - CB.SC.U4AIE23028</a:t>
              </a:r>
            </a:p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KAVIN CHAKRAVARTHY S - CB.SC.U4AIE23036</a:t>
              </a:r>
            </a:p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PREM KUMAR R - CB.SC.U4AIE23052</a:t>
              </a:r>
            </a:p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endParaRPr lang="en-US" sz="3000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Team Number: A13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2606000" cy="6980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19MNG338 - OPERATIONS RESEARCH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634102" y="981430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Page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1530" y="1809750"/>
            <a:ext cx="16744939" cy="744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Hospital operates 8 OR suites shared across 10 surgical specialties.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Every week, must decide how many OR-hours to give each specialty.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Too few hours wastes capacity; too many starves other specialties and causes overtime.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Goal: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Optimize weekly OR-hour allocations across 10 specialties to maximize surgical throughput while controlling overtime, subject to total suite capacity and historical demand bounds.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Must respect total OR capacity and each specialty's historical demand.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Challenge: 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Throughput vs. Overtime are conflicting objectives.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701473" y="-35964"/>
            <a:ext cx="12309927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Problem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34102" y="981430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Page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28821" y="3593339"/>
            <a:ext cx="14430359" cy="6693661"/>
          </a:xfrm>
          <a:custGeom>
            <a:avLst/>
            <a:gdLst/>
            <a:ahLst/>
            <a:cxnLst/>
            <a:rect l="l" t="t" r="r" b="b"/>
            <a:pathLst>
              <a:path w="14430359" h="6693661">
                <a:moveTo>
                  <a:pt x="0" y="0"/>
                </a:moveTo>
                <a:lnTo>
                  <a:pt x="14430358" y="0"/>
                </a:lnTo>
                <a:lnTo>
                  <a:pt x="14430358" y="6693661"/>
                </a:lnTo>
                <a:lnTo>
                  <a:pt x="0" y="66936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73934" y="-25493"/>
            <a:ext cx="11540133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Dataset Description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4202" y="1669069"/>
            <a:ext cx="16703798" cy="31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Source: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Kaggle — Optimizing Operating Room Utilization (Q1 2022)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2,172 real surgical case records, 8 OR suites, 10 specialties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kaggle.com/datasets/thedevastator/optimizing-operating-room-utilization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634102" y="981430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Page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-27017"/>
            <a:ext cx="18432019" cy="1335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20"/>
              </a:lnSpc>
            </a:pPr>
            <a:r>
              <a:rPr lang="en-US" sz="7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Cleaning and Derived Metrics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88927" y="2148332"/>
            <a:ext cx="13910146" cy="6427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Fixed inconsistent date formats (DD-MM-YYYY vs MM/DD/YY)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Actual Duration = (End Time − Start Time) × 1440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Overtime = MAX(0, Actual Duration − Booked Time)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Turnover = Next Wheels In − Current Wheels Out (same suite, same day)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Utilization % = Total Actual Duration ÷ (Last Wheels Out − First Wheels In)</a:t>
            </a:r>
          </a:p>
          <a:p>
            <a:pPr marL="323851" lvl="1"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634102" y="981430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Page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59127" y="-2493"/>
            <a:ext cx="11616631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Proposed Solution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4350" y="1543686"/>
            <a:ext cx="17506186" cy="851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Approach: 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five-stage Excel-based analytics and optimization pipeline, moving from raw data to a decision-ready model.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Clean the dataset 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— standardize inconsistent date/time formats, convert text-stored numbers into real numeric fields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Compute derived metrics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— Actual Duration, Overtime, Turnover, and Utilization % for every OR Suite × Date combination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Build an on-demand statistics dashboard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— query by OR Suite or by Service to explore the data interactively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Formulate a Linear Programming model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— decide weekly OR-hour allocation per specialty to maximize surgical throughput, solve with Excel Solver and interpret via Sensitivity Analysis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Extend to Goal Programming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— balance throughput against overtime simultaneously, instead of optimizing either one alone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Outcome: 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data-driven OR scheduling recommendation grounded in one quarter of real surgical records, with a clear, interpretable trade-off between throughput and overtime.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634102" y="981430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Page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57600" y="-84303"/>
            <a:ext cx="11485811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Statistical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502537"/>
            <a:ext cx="16559461" cy="851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Built an on-demand statistics dashboard in Excel : enter a value, get instant summary statistics.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View by OR Suite : type a suite number (1–8), instantly see: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Average utilization %, Total actual surgery minutes used, Average daily duration, Number of active days in the quarter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View by Service : type a specialty name, instantly see: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Number of surgeries performed, Average actual duration per case, Average overtime per case, Average booked time per case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Finding: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Average OR utilization across all 8 suites: ~46%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Indicates significant unused OR capacity across the hospital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finding directly motivates the optimization models that follow</a:t>
            </a:r>
          </a:p>
          <a:p>
            <a:pPr algn="ctr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634102" y="981430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Page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95592" y="1452244"/>
            <a:ext cx="6696815" cy="8639115"/>
          </a:xfrm>
          <a:custGeom>
            <a:avLst/>
            <a:gdLst/>
            <a:ahLst/>
            <a:cxnLst/>
            <a:rect l="l" t="t" r="r" b="b"/>
            <a:pathLst>
              <a:path w="5576572" h="8364858">
                <a:moveTo>
                  <a:pt x="0" y="0"/>
                </a:moveTo>
                <a:lnTo>
                  <a:pt x="5576572" y="0"/>
                </a:lnTo>
                <a:lnTo>
                  <a:pt x="5576572" y="8364858"/>
                </a:lnTo>
                <a:lnTo>
                  <a:pt x="0" y="83648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634102" y="981430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Page 7 of 11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95185" y="-114300"/>
            <a:ext cx="7557344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Methodology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7765" y="-114300"/>
            <a:ext cx="15880072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Linear Programming Model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7336" y="1749427"/>
            <a:ext cx="16732754" cy="904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Motivation: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Before balancing multiple goals, first find the single best allocation that maximizes surgical throughput alone — this becomes the baseline the Goal Programming model builds on.</a:t>
            </a:r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Decision Variable: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Xₛ = OR-hours allocated to specialty s per week (s = 1 to 10)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 Function: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Maximize Z = Σ (60 × Xₛ ) / Dₛ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Xₛ : OR-hours given to specialty 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Dₛ : average actual case duration for specialty s (minutes)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60 ÷ Dₛ converts hours into number of cases performed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Constraints: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Σ Xₛ ≤ 320 (total weekly OR capacity, all 8 suites combined)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0.8 × historical average ≤ Xₛ ≤ 1.2 × historical average (stay within realistic demand per specialty)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Xₛ ≥ 0 (non-negativity)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634102" y="981430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Page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8111" y="-190500"/>
            <a:ext cx="14831778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Goal Programming Model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257300"/>
            <a:ext cx="17341582" cy="958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Motivation: 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Throughput maximization alone ignores overtime; Goal Programming balances both conflicting objectives.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Goals:</a:t>
            </a:r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 1 (Throughput Target):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Σ (60 × Xₛ) / Dₛ + d1⁻ − d1⁺ = 200 cases/week</a:t>
            </a:r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 2 (Overtime Control): 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Σ Overtimeₛ + d2⁻ − d2⁺ = Target Overtime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 Function: 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Minimize Z = W1 × d1⁻ + W2 × d2⁺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d1⁻ : Under-achievement penalty for case throughput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d2⁺ : Over-achievement penalty for exceeding overtime limits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W1, W2 : Decision-maker priority weights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Hard Constraints: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Σ Xₛ ≤ 320 (Total weekly capacity)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0.8 × avg ≤ Xₛ ≤ 1.2 × avg (Specialty demand bounds)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Xₛ, d1⁻, d1⁺, d2⁻, d2⁺ ≥ 0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634102" y="981430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Page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14600" y="-130746"/>
            <a:ext cx="12903581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Tools and Significance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73198" y="1435798"/>
            <a:ext cx="17256692" cy="911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 Used:</a:t>
            </a:r>
          </a:p>
          <a:p>
            <a:pPr algn="l">
              <a:lnSpc>
                <a:spcPts val="4200"/>
              </a:lnSpc>
            </a:pPr>
            <a:endParaRPr lang="en-US" sz="30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Microsoft Excel — primary platform for data, models, and dashboard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Power Query — importing and cleaning the raw CSV dataset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Significance:</a:t>
            </a:r>
          </a:p>
          <a:p>
            <a:pPr algn="l">
              <a:lnSpc>
                <a:spcPts val="4200"/>
              </a:lnSpc>
            </a:pPr>
            <a:endParaRPr lang="en-US" sz="30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Capacity Insight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— Sensitivity Analysis reveals the true bottleneck is specialty demand caps, not OR capacity.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Overtime Awareness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— Goal Programming explicitly controls overtime instead of ignoring it, unlike single-objective LP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Data-Driven Scheduling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— allocation decisions are grounded in one quarter of real historical surgical records, not guesswork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Multi-Objective Decision Making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— hospital administrators can weigh throughput against overtime instead of being locked into one goal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759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634102" y="981430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Page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634102" y="981430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Page 11 of 11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989858" y="-35964"/>
            <a:ext cx="8308284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Project Status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72415" y="1608962"/>
            <a:ext cx="17431208" cy="798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Completed: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Dataset identified and loaded — Kaggle OR Utilization dataset, Q1 2022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cleaning completed — standardized date/time formats, computed derived metrics (Duration, Overtime, Turnover, Utilization %)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Current Status: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Formulating the Linear Programming model — defining decision variables, objective function, and constraints for weekly OR-hour allocation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Work: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larger datasets or multi-quarter analysis, migrate the aggregation and modeling layer to Python (Pandas for data processing, PuLP/SciPy for optimization) while keeping the same underlying LP/Goal Programming formulation.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1061</Words>
  <Application>Microsoft Office PowerPoint</Application>
  <PresentationFormat>Custom</PresentationFormat>
  <Paragraphs>121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Canva Sans Bold</vt:lpstr>
      <vt:lpstr>Calibri</vt:lpstr>
      <vt:lpstr>Arial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OR_PPT</dc:title>
  <cp:lastModifiedBy>Ghanasree S</cp:lastModifiedBy>
  <cp:revision>6</cp:revision>
  <dcterms:created xsi:type="dcterms:W3CDTF">2006-08-16T00:00:00Z</dcterms:created>
  <dcterms:modified xsi:type="dcterms:W3CDTF">2026-08-19T07:13:07Z</dcterms:modified>
  <dc:identifier>DAHSpsiC3Sc</dc:identifier>
</cp:coreProperties>
</file>